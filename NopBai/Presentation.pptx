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Helvetica World" charset="1" panose="020B0500040000020004"/>
      <p:regular r:id="rId44"/>
    </p:embeddedFont>
    <p:embeddedFont>
      <p:font typeface="Helvetica World Bold" charset="1" panose="020B0800040000020004"/>
      <p:regular r:id="rId45"/>
    </p:embeddedFont>
    <p:embeddedFont>
      <p:font typeface="DM Sans Bold" charset="1" panose="00000000000000000000"/>
      <p:regular r:id="rId46"/>
    </p:embeddedFont>
    <p:embeddedFont>
      <p:font typeface="Open Sauce Heavy" charset="1" panose="00000A00000000000000"/>
      <p:regular r:id="rId47"/>
    </p:embeddedFont>
    <p:embeddedFont>
      <p:font typeface="DM Sans" charset="1" panose="00000000000000000000"/>
      <p:regular r:id="rId48"/>
    </p:embeddedFont>
    <p:embeddedFont>
      <p:font typeface="Open Sauce Bold" charset="1" panose="00000800000000000000"/>
      <p:regular r:id="rId49"/>
    </p:embeddedFont>
    <p:embeddedFont>
      <p:font typeface="Open Sauce" charset="1" panose="000005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40753" y="-692963"/>
            <a:ext cx="21769507" cy="11196001"/>
          </a:xfrm>
          <a:custGeom>
            <a:avLst/>
            <a:gdLst/>
            <a:ahLst/>
            <a:cxnLst/>
            <a:rect r="r" b="b" t="t" l="l"/>
            <a:pathLst>
              <a:path h="11196001" w="21769507">
                <a:moveTo>
                  <a:pt x="0" y="0"/>
                </a:moveTo>
                <a:lnTo>
                  <a:pt x="21769506" y="0"/>
                </a:lnTo>
                <a:lnTo>
                  <a:pt x="21769506" y="11196001"/>
                </a:lnTo>
                <a:lnTo>
                  <a:pt x="0" y="11196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1" t="0" r="-625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57987" y="9258300"/>
            <a:ext cx="19003975" cy="1244738"/>
            <a:chOff x="0" y="0"/>
            <a:chExt cx="3910283" cy="256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10283" cy="256119"/>
            </a:xfrm>
            <a:custGeom>
              <a:avLst/>
              <a:gdLst/>
              <a:ahLst/>
              <a:cxnLst/>
              <a:rect r="r" b="b" t="t" l="l"/>
              <a:pathLst>
                <a:path h="256119" w="3910283">
                  <a:moveTo>
                    <a:pt x="0" y="0"/>
                  </a:moveTo>
                  <a:lnTo>
                    <a:pt x="3910283" y="0"/>
                  </a:lnTo>
                  <a:lnTo>
                    <a:pt x="3910283" y="256119"/>
                  </a:lnTo>
                  <a:lnTo>
                    <a:pt x="0" y="2561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910283" cy="284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3220" y="9594314"/>
            <a:ext cx="30283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VNG NEXT GEN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48343" y="9594314"/>
            <a:ext cx="5526437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b="true" sz="1400" spc="-4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CHAIN TO HEAVEN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248" y="2463973"/>
            <a:ext cx="4156455" cy="5832094"/>
          </a:xfrm>
          <a:custGeom>
            <a:avLst/>
            <a:gdLst/>
            <a:ahLst/>
            <a:cxnLst/>
            <a:rect r="r" b="b" t="t" l="l"/>
            <a:pathLst>
              <a:path h="5832094" w="4156455">
                <a:moveTo>
                  <a:pt x="0" y="0"/>
                </a:moveTo>
                <a:lnTo>
                  <a:pt x="4156455" y="0"/>
                </a:lnTo>
                <a:lnTo>
                  <a:pt x="4156455" y="5832094"/>
                </a:lnTo>
                <a:lnTo>
                  <a:pt x="0" y="583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4703" y="3305841"/>
            <a:ext cx="7267320" cy="4990226"/>
          </a:xfrm>
          <a:custGeom>
            <a:avLst/>
            <a:gdLst/>
            <a:ahLst/>
            <a:cxnLst/>
            <a:rect r="r" b="b" t="t" l="l"/>
            <a:pathLst>
              <a:path h="4990226" w="7267320">
                <a:moveTo>
                  <a:pt x="0" y="0"/>
                </a:moveTo>
                <a:lnTo>
                  <a:pt x="7267320" y="0"/>
                </a:lnTo>
                <a:lnTo>
                  <a:pt x="7267320" y="4990226"/>
                </a:lnTo>
                <a:lnTo>
                  <a:pt x="0" y="4990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541657" y="2200941"/>
            <a:ext cx="417484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BEAUTIFUL AND RICH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41657" y="1717269"/>
            <a:ext cx="41748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</a:t>
            </a:r>
            <a:r>
              <a:rPr lang="en-US" b="true" sz="1400" spc="-42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STORICAL HERITAGE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41657" y="461010"/>
            <a:ext cx="417484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</a:t>
            </a:r>
            <a:r>
              <a:rPr lang="en-US" b="true" sz="1800" spc="-53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STORICAL ROOTS AND DIVERSITY IN VIETNAMESE SOCIETY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4826" y="784318"/>
            <a:ext cx="10613592" cy="141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7"/>
              </a:lnSpc>
            </a:pPr>
            <a:r>
              <a:rPr lang="en-US" b="true" sz="11756" spc="-470">
                <a:solidFill>
                  <a:srgbClr val="FFDE59"/>
                </a:solidFill>
                <a:latin typeface="DM Sans Bold"/>
                <a:ea typeface="DM Sans Bold"/>
                <a:cs typeface="DM Sans Bold"/>
                <a:sym typeface="DM Sans Bold"/>
              </a:rPr>
              <a:t>WHY HẠN TRỜI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1657" y="3684570"/>
            <a:ext cx="417484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ROOM TO DEVELOP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1657" y="3077241"/>
            <a:ext cx="41748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b="true" sz="1400" spc="-42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THNIC DIVERSITY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41657" y="5170470"/>
            <a:ext cx="417484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RELATABLE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41657" y="4560870"/>
            <a:ext cx="41748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FFDE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VIET NAM FOLKLORE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1779" y="7886375"/>
            <a:ext cx="3613112" cy="2148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6"/>
              </a:lnSpc>
            </a:pPr>
            <a:r>
              <a:rPr lang="en-US" b="true" sz="9305" spc="-372">
                <a:solidFill>
                  <a:srgbClr val="FFDE59"/>
                </a:solidFill>
                <a:latin typeface="DM Sans Bold"/>
                <a:ea typeface="DM Sans Bold"/>
                <a:cs typeface="DM Sans Bold"/>
                <a:sym typeface="DM Sans Bold"/>
              </a:rPr>
              <a:t>ONE LINER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-604319836" y="-239052978"/>
            <a:ext cx="1224927365" cy="488063319"/>
          </a:xfrm>
          <a:prstGeom prst="line">
            <a:avLst/>
          </a:prstGeom>
          <a:ln cap="flat" w="77343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4115" y="4146550"/>
            <a:ext cx="14908312" cy="19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  <a:spcBef>
                <a:spcPct val="0"/>
              </a:spcBef>
            </a:pPr>
            <a:r>
              <a:rPr lang="en-US" b="true" sz="12000" spc="-35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 CHAIN TO HEAVEN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1975" y="300286"/>
            <a:ext cx="8617818" cy="4843214"/>
          </a:xfrm>
          <a:custGeom>
            <a:avLst/>
            <a:gdLst/>
            <a:ahLst/>
            <a:cxnLst/>
            <a:rect r="r" b="b" t="t" l="l"/>
            <a:pathLst>
              <a:path h="4843214" w="8617818">
                <a:moveTo>
                  <a:pt x="0" y="0"/>
                </a:moveTo>
                <a:lnTo>
                  <a:pt x="8617818" y="0"/>
                </a:lnTo>
                <a:lnTo>
                  <a:pt x="8617818" y="4843214"/>
                </a:lnTo>
                <a:lnTo>
                  <a:pt x="0" y="4843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5217" y="1552335"/>
            <a:ext cx="8852783" cy="4982264"/>
          </a:xfrm>
          <a:custGeom>
            <a:avLst/>
            <a:gdLst/>
            <a:ahLst/>
            <a:cxnLst/>
            <a:rect r="r" b="b" t="t" l="l"/>
            <a:pathLst>
              <a:path h="4982264" w="8852783">
                <a:moveTo>
                  <a:pt x="0" y="0"/>
                </a:moveTo>
                <a:lnTo>
                  <a:pt x="8852783" y="0"/>
                </a:lnTo>
                <a:lnTo>
                  <a:pt x="8852783" y="4982264"/>
                </a:lnTo>
                <a:lnTo>
                  <a:pt x="0" y="4982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76547" y="7511908"/>
            <a:ext cx="3266066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-83">
                <a:solidFill>
                  <a:srgbClr val="DA03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BEHAVIOUR </a:t>
            </a:r>
          </a:p>
          <a:p>
            <a:pPr algn="l">
              <a:lnSpc>
                <a:spcPts val="3359"/>
              </a:lnSpc>
            </a:pPr>
            <a:r>
              <a:rPr lang="en-US" sz="2799" spc="-83">
                <a:solidFill>
                  <a:srgbClr val="DA03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WHICH ENEMIES DO I TARGET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975" y="6839399"/>
            <a:ext cx="7746506" cy="326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4"/>
              </a:lnSpc>
            </a:pPr>
            <a:r>
              <a:rPr lang="en-US" b="true" sz="9637" spc="-385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</a:t>
            </a:r>
            <a:r>
              <a:rPr lang="en-US" b="true" sz="9637" spc="-385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RADITION TOWER DEFENSE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10679" y="7730490"/>
            <a:ext cx="500582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DAMG COME FROM PLACING TURRET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2067" y="3837179"/>
            <a:ext cx="1759530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0"/>
              </a:lnSpc>
            </a:pPr>
            <a:r>
              <a:rPr lang="en-US" b="true" sz="10400" spc="-312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WHERE DO I PUT DAMAGE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2067" y="556506"/>
            <a:ext cx="4916094" cy="328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1"/>
              </a:lnSpc>
            </a:pPr>
            <a:r>
              <a:rPr lang="en-US" sz="7963" spc="-318">
                <a:solidFill>
                  <a:srgbClr val="DA0300"/>
                </a:solidFill>
                <a:latin typeface="DM Sans"/>
                <a:ea typeface="DM Sans"/>
                <a:cs typeface="DM Sans"/>
                <a:sym typeface="DM Sans"/>
              </a:rPr>
              <a:t>HẠN TRỜI DESIGN DECISION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49568" y="6545914"/>
            <a:ext cx="898886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-8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DAMG COME FROM PERFECT PLACEMENT AND CHAIN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54"/>
            <a:ext cx="18326416" cy="10342388"/>
          </a:xfrm>
          <a:custGeom>
            <a:avLst/>
            <a:gdLst/>
            <a:ahLst/>
            <a:cxnLst/>
            <a:rect r="r" b="b" t="t" l="l"/>
            <a:pathLst>
              <a:path h="10342388" w="18326416">
                <a:moveTo>
                  <a:pt x="0" y="0"/>
                </a:moveTo>
                <a:lnTo>
                  <a:pt x="18326416" y="0"/>
                </a:lnTo>
                <a:lnTo>
                  <a:pt x="18326416" y="10342388"/>
                </a:lnTo>
                <a:lnTo>
                  <a:pt x="0" y="10342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1508" y="1392794"/>
            <a:ext cx="3444684" cy="3444684"/>
          </a:xfrm>
          <a:custGeom>
            <a:avLst/>
            <a:gdLst/>
            <a:ahLst/>
            <a:cxnLst/>
            <a:rect r="r" b="b" t="t" l="l"/>
            <a:pathLst>
              <a:path h="3444684" w="3444684">
                <a:moveTo>
                  <a:pt x="0" y="0"/>
                </a:moveTo>
                <a:lnTo>
                  <a:pt x="3444684" y="0"/>
                </a:lnTo>
                <a:lnTo>
                  <a:pt x="3444684" y="3444684"/>
                </a:lnTo>
                <a:lnTo>
                  <a:pt x="0" y="3444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1508" y="882650"/>
            <a:ext cx="4238120" cy="2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WHAT’S THE GAME ABOUT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571926"/>
            <a:ext cx="8929491" cy="150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66"/>
              </a:lnSpc>
            </a:pPr>
            <a:r>
              <a:rPr lang="en-US" b="true" sz="12489" spc="-499">
                <a:solidFill>
                  <a:srgbClr val="DA03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COREL</a:t>
            </a:r>
            <a:r>
              <a:rPr lang="en-US" b="true" sz="12489" spc="-499">
                <a:solidFill>
                  <a:srgbClr val="DA03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90489"/>
            <a:ext cx="16890473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 spc="-215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READ  BUILD  CONNECT  RUN  SETTLE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2251" y="6346214"/>
            <a:ext cx="16791240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b="true" sz="4800" spc="-1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WAVE         TOWER              WIRE              WAVE       GOLD/HP</a:t>
            </a:r>
          </a:p>
        </p:txBody>
      </p:sp>
      <p:sp>
        <p:nvSpPr>
          <p:cNvPr name="AutoShape 7" id="7"/>
          <p:cNvSpPr/>
          <p:nvPr/>
        </p:nvSpPr>
        <p:spPr>
          <a:xfrm>
            <a:off x="1282251" y="7839341"/>
            <a:ext cx="159770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247596"/>
            <a:ext cx="18288000" cy="7896286"/>
          </a:xfrm>
          <a:custGeom>
            <a:avLst/>
            <a:gdLst/>
            <a:ahLst/>
            <a:cxnLst/>
            <a:rect r="r" b="b" t="t" l="l"/>
            <a:pathLst>
              <a:path h="7896286" w="18288000">
                <a:moveTo>
                  <a:pt x="0" y="0"/>
                </a:moveTo>
                <a:lnTo>
                  <a:pt x="18288000" y="0"/>
                </a:lnTo>
                <a:lnTo>
                  <a:pt x="18288000" y="7896286"/>
                </a:lnTo>
                <a:lnTo>
                  <a:pt x="0" y="7896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8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62862" y="1455439"/>
            <a:ext cx="3762277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b="true" sz="5311" spc="-159">
                <a:solidFill>
                  <a:srgbClr val="E4E8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5311" spc="-159">
                <a:solidFill>
                  <a:srgbClr val="E4E8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GŨ HÀNH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1492" y="776535"/>
            <a:ext cx="9781166" cy="96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b="true" sz="7989" spc="-319">
                <a:solidFill>
                  <a:srgbClr val="FFDE5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TURRETS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52" t="-3033" r="-585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26038" y="2361258"/>
            <a:ext cx="7709075" cy="6022715"/>
          </a:xfrm>
          <a:custGeom>
            <a:avLst/>
            <a:gdLst/>
            <a:ahLst/>
            <a:cxnLst/>
            <a:rect r="r" b="b" t="t" l="l"/>
            <a:pathLst>
              <a:path h="6022715" w="7709075">
                <a:moveTo>
                  <a:pt x="0" y="0"/>
                </a:moveTo>
                <a:lnTo>
                  <a:pt x="7709075" y="0"/>
                </a:lnTo>
                <a:lnTo>
                  <a:pt x="7709075" y="6022715"/>
                </a:lnTo>
                <a:lnTo>
                  <a:pt x="0" y="6022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75799" y="461010"/>
            <a:ext cx="2286422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EXPLORING T</a:t>
            </a: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 VIBRANT OF VIETNAM CELESTIAL COURT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07" y="756285"/>
            <a:ext cx="5509736" cy="117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0"/>
              </a:lnSpc>
            </a:pPr>
            <a:r>
              <a:rPr lang="en-US" b="true" sz="9701" spc="-388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ENEMIES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500" y="821687"/>
            <a:ext cx="38857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DỰA THEO FOLKORE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461010"/>
            <a:ext cx="388577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INSPIRATION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881" y="132552"/>
            <a:ext cx="18160631" cy="10218657"/>
          </a:xfrm>
          <a:custGeom>
            <a:avLst/>
            <a:gdLst/>
            <a:ahLst/>
            <a:cxnLst/>
            <a:rect r="r" b="b" t="t" l="l"/>
            <a:pathLst>
              <a:path h="10218657" w="18160631">
                <a:moveTo>
                  <a:pt x="0" y="0"/>
                </a:moveTo>
                <a:lnTo>
                  <a:pt x="18160632" y="0"/>
                </a:lnTo>
                <a:lnTo>
                  <a:pt x="18160632" y="10218656"/>
                </a:lnTo>
                <a:lnTo>
                  <a:pt x="0" y="10218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75799" y="461010"/>
            <a:ext cx="2286422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EXPLORING T</a:t>
            </a: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 VIBRANT OF VIETNAM CELESTIAL COURT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87894" y="569340"/>
            <a:ext cx="4522605" cy="95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8"/>
              </a:lnSpc>
            </a:pPr>
            <a:r>
              <a:rPr lang="en-US" b="true" sz="7963" spc="-318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ENEMIES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4416" y="819150"/>
            <a:ext cx="38857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DỰA THEO FOLKORE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4416" y="461010"/>
            <a:ext cx="388577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INSPIRATION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85518" y="1661651"/>
            <a:ext cx="3452590" cy="3481849"/>
          </a:xfrm>
          <a:custGeom>
            <a:avLst/>
            <a:gdLst/>
            <a:ahLst/>
            <a:cxnLst/>
            <a:rect r="r" b="b" t="t" l="l"/>
            <a:pathLst>
              <a:path h="3481849" w="3452590">
                <a:moveTo>
                  <a:pt x="0" y="0"/>
                </a:moveTo>
                <a:lnTo>
                  <a:pt x="3452590" y="0"/>
                </a:lnTo>
                <a:lnTo>
                  <a:pt x="3452590" y="3481849"/>
                </a:lnTo>
                <a:lnTo>
                  <a:pt x="0" y="3481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6463" y="2647583"/>
            <a:ext cx="3180843" cy="2495917"/>
          </a:xfrm>
          <a:custGeom>
            <a:avLst/>
            <a:gdLst/>
            <a:ahLst/>
            <a:cxnLst/>
            <a:rect r="r" b="b" t="t" l="l"/>
            <a:pathLst>
              <a:path h="2495917" w="3180843">
                <a:moveTo>
                  <a:pt x="0" y="0"/>
                </a:moveTo>
                <a:lnTo>
                  <a:pt x="3180843" y="0"/>
                </a:lnTo>
                <a:lnTo>
                  <a:pt x="3180843" y="2495917"/>
                </a:lnTo>
                <a:lnTo>
                  <a:pt x="0" y="2495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49197" y="1629410"/>
            <a:ext cx="2130884" cy="3514090"/>
          </a:xfrm>
          <a:custGeom>
            <a:avLst/>
            <a:gdLst/>
            <a:ahLst/>
            <a:cxnLst/>
            <a:rect r="r" b="b" t="t" l="l"/>
            <a:pathLst>
              <a:path h="3514090" w="2130884">
                <a:moveTo>
                  <a:pt x="0" y="0"/>
                </a:moveTo>
                <a:lnTo>
                  <a:pt x="2130884" y="0"/>
                </a:lnTo>
                <a:lnTo>
                  <a:pt x="2130884" y="3514090"/>
                </a:lnTo>
                <a:lnTo>
                  <a:pt x="0" y="3514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94506" y="1661651"/>
            <a:ext cx="2418112" cy="3565839"/>
          </a:xfrm>
          <a:custGeom>
            <a:avLst/>
            <a:gdLst/>
            <a:ahLst/>
            <a:cxnLst/>
            <a:rect r="r" b="b" t="t" l="l"/>
            <a:pathLst>
              <a:path h="3565839" w="2418112">
                <a:moveTo>
                  <a:pt x="0" y="0"/>
                </a:moveTo>
                <a:lnTo>
                  <a:pt x="2418112" y="0"/>
                </a:lnTo>
                <a:lnTo>
                  <a:pt x="2418112" y="3565839"/>
                </a:lnTo>
                <a:lnTo>
                  <a:pt x="0" y="3565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842" y="7105650"/>
            <a:ext cx="2092085" cy="1959893"/>
          </a:xfrm>
          <a:custGeom>
            <a:avLst/>
            <a:gdLst/>
            <a:ahLst/>
            <a:cxnLst/>
            <a:rect r="r" b="b" t="t" l="l"/>
            <a:pathLst>
              <a:path h="1959893" w="2092085">
                <a:moveTo>
                  <a:pt x="0" y="0"/>
                </a:moveTo>
                <a:lnTo>
                  <a:pt x="2092085" y="0"/>
                </a:lnTo>
                <a:lnTo>
                  <a:pt x="2092085" y="1959893"/>
                </a:lnTo>
                <a:lnTo>
                  <a:pt x="0" y="1959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55321" y="6115050"/>
            <a:ext cx="2112983" cy="2950493"/>
          </a:xfrm>
          <a:custGeom>
            <a:avLst/>
            <a:gdLst/>
            <a:ahLst/>
            <a:cxnLst/>
            <a:rect r="r" b="b" t="t" l="l"/>
            <a:pathLst>
              <a:path h="2950493" w="2112983">
                <a:moveTo>
                  <a:pt x="0" y="0"/>
                </a:moveTo>
                <a:lnTo>
                  <a:pt x="2112983" y="0"/>
                </a:lnTo>
                <a:lnTo>
                  <a:pt x="2112983" y="2950493"/>
                </a:lnTo>
                <a:lnTo>
                  <a:pt x="0" y="29504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15771" y="5486658"/>
            <a:ext cx="8556519" cy="4494333"/>
          </a:xfrm>
          <a:custGeom>
            <a:avLst/>
            <a:gdLst/>
            <a:ahLst/>
            <a:cxnLst/>
            <a:rect r="r" b="b" t="t" l="l"/>
            <a:pathLst>
              <a:path h="4494333" w="8556519">
                <a:moveTo>
                  <a:pt x="0" y="0"/>
                </a:moveTo>
                <a:lnTo>
                  <a:pt x="8556520" y="0"/>
                </a:lnTo>
                <a:lnTo>
                  <a:pt x="8556520" y="4494333"/>
                </a:lnTo>
                <a:lnTo>
                  <a:pt x="0" y="44943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75799" y="461010"/>
            <a:ext cx="2286422" cy="116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EXPLORING T</a:t>
            </a:r>
            <a:r>
              <a:rPr lang="en-US" b="true" sz="1800" spc="-5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 VIBRANT OF VIETNAM CELESTIAL COURT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7894" y="569340"/>
            <a:ext cx="4522605" cy="95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8"/>
              </a:lnSpc>
            </a:pPr>
            <a:r>
              <a:rPr lang="en-US" b="true" sz="7963" spc="-318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ENEMIES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4416" y="819150"/>
            <a:ext cx="38857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4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DỰA THEO FOLKORE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4416" y="461010"/>
            <a:ext cx="388577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-42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INSPIRATION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487" y="1648252"/>
            <a:ext cx="7793861" cy="3730163"/>
          </a:xfrm>
          <a:custGeom>
            <a:avLst/>
            <a:gdLst/>
            <a:ahLst/>
            <a:cxnLst/>
            <a:rect r="r" b="b" t="t" l="l"/>
            <a:pathLst>
              <a:path h="3730163" w="7793861">
                <a:moveTo>
                  <a:pt x="0" y="0"/>
                </a:moveTo>
                <a:lnTo>
                  <a:pt x="7793861" y="0"/>
                </a:lnTo>
                <a:lnTo>
                  <a:pt x="7793861" y="3730163"/>
                </a:lnTo>
                <a:lnTo>
                  <a:pt x="0" y="373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5806" y="1648252"/>
            <a:ext cx="7310026" cy="3689465"/>
          </a:xfrm>
          <a:custGeom>
            <a:avLst/>
            <a:gdLst/>
            <a:ahLst/>
            <a:cxnLst/>
            <a:rect r="r" b="b" t="t" l="l"/>
            <a:pathLst>
              <a:path h="3689465" w="7310026">
                <a:moveTo>
                  <a:pt x="0" y="0"/>
                </a:moveTo>
                <a:lnTo>
                  <a:pt x="7310027" y="0"/>
                </a:lnTo>
                <a:lnTo>
                  <a:pt x="7310027" y="3689465"/>
                </a:lnTo>
                <a:lnTo>
                  <a:pt x="0" y="3689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4487" y="6090994"/>
            <a:ext cx="7001146" cy="3671408"/>
          </a:xfrm>
          <a:custGeom>
            <a:avLst/>
            <a:gdLst/>
            <a:ahLst/>
            <a:cxnLst/>
            <a:rect r="r" b="b" t="t" l="l"/>
            <a:pathLst>
              <a:path h="3671408" w="7001146">
                <a:moveTo>
                  <a:pt x="0" y="0"/>
                </a:moveTo>
                <a:lnTo>
                  <a:pt x="7001146" y="0"/>
                </a:lnTo>
                <a:lnTo>
                  <a:pt x="7001146" y="3671408"/>
                </a:lnTo>
                <a:lnTo>
                  <a:pt x="0" y="3671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55806" y="6090994"/>
            <a:ext cx="7190371" cy="3671408"/>
          </a:xfrm>
          <a:custGeom>
            <a:avLst/>
            <a:gdLst/>
            <a:ahLst/>
            <a:cxnLst/>
            <a:rect r="r" b="b" t="t" l="l"/>
            <a:pathLst>
              <a:path h="3671408" w="7190371">
                <a:moveTo>
                  <a:pt x="0" y="0"/>
                </a:moveTo>
                <a:lnTo>
                  <a:pt x="7190371" y="0"/>
                </a:lnTo>
                <a:lnTo>
                  <a:pt x="7190371" y="3671408"/>
                </a:lnTo>
                <a:lnTo>
                  <a:pt x="0" y="3671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95060" y="5378415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529245"/>
            <a:ext cx="13883337" cy="111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b="true" sz="9413" spc="-376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MAP LAYOUT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1005" y="5378415"/>
            <a:ext cx="266397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95060" y="9762402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13858" y="9762402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5827" y="1648252"/>
            <a:ext cx="7109122" cy="3689465"/>
          </a:xfrm>
          <a:custGeom>
            <a:avLst/>
            <a:gdLst/>
            <a:ahLst/>
            <a:cxnLst/>
            <a:rect r="r" b="b" t="t" l="l"/>
            <a:pathLst>
              <a:path h="3689465" w="7109122">
                <a:moveTo>
                  <a:pt x="0" y="0"/>
                </a:moveTo>
                <a:lnTo>
                  <a:pt x="7109122" y="0"/>
                </a:lnTo>
                <a:lnTo>
                  <a:pt x="7109122" y="3689465"/>
                </a:lnTo>
                <a:lnTo>
                  <a:pt x="0" y="3689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5806" y="1685563"/>
            <a:ext cx="6979536" cy="3652154"/>
          </a:xfrm>
          <a:custGeom>
            <a:avLst/>
            <a:gdLst/>
            <a:ahLst/>
            <a:cxnLst/>
            <a:rect r="r" b="b" t="t" l="l"/>
            <a:pathLst>
              <a:path h="3652154" w="6979536">
                <a:moveTo>
                  <a:pt x="0" y="0"/>
                </a:moveTo>
                <a:lnTo>
                  <a:pt x="6979536" y="0"/>
                </a:lnTo>
                <a:lnTo>
                  <a:pt x="6979536" y="3652154"/>
                </a:lnTo>
                <a:lnTo>
                  <a:pt x="0" y="3652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1500" y="6005687"/>
            <a:ext cx="7183449" cy="3756715"/>
          </a:xfrm>
          <a:custGeom>
            <a:avLst/>
            <a:gdLst/>
            <a:ahLst/>
            <a:cxnLst/>
            <a:rect r="r" b="b" t="t" l="l"/>
            <a:pathLst>
              <a:path h="3756715" w="7183449">
                <a:moveTo>
                  <a:pt x="0" y="0"/>
                </a:moveTo>
                <a:lnTo>
                  <a:pt x="7183449" y="0"/>
                </a:lnTo>
                <a:lnTo>
                  <a:pt x="7183449" y="3756715"/>
                </a:lnTo>
                <a:lnTo>
                  <a:pt x="0" y="3756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55806" y="6005687"/>
            <a:ext cx="6979536" cy="3650075"/>
          </a:xfrm>
          <a:custGeom>
            <a:avLst/>
            <a:gdLst/>
            <a:ahLst/>
            <a:cxnLst/>
            <a:rect r="r" b="b" t="t" l="l"/>
            <a:pathLst>
              <a:path h="3650075" w="6979536">
                <a:moveTo>
                  <a:pt x="0" y="0"/>
                </a:moveTo>
                <a:lnTo>
                  <a:pt x="6979536" y="0"/>
                </a:lnTo>
                <a:lnTo>
                  <a:pt x="6979536" y="3650075"/>
                </a:lnTo>
                <a:lnTo>
                  <a:pt x="0" y="3650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70042" y="5378415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529245"/>
            <a:ext cx="13883337" cy="111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b="true" sz="9413" spc="-376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MAP LAYOUT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47461" y="5389485"/>
            <a:ext cx="266397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0042" y="9762402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0660" y="9762402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099" y="2194661"/>
            <a:ext cx="8575901" cy="4449831"/>
          </a:xfrm>
          <a:custGeom>
            <a:avLst/>
            <a:gdLst/>
            <a:ahLst/>
            <a:cxnLst/>
            <a:rect r="r" b="b" t="t" l="l"/>
            <a:pathLst>
              <a:path h="4449831" w="8575901">
                <a:moveTo>
                  <a:pt x="0" y="0"/>
                </a:moveTo>
                <a:lnTo>
                  <a:pt x="8575901" y="0"/>
                </a:lnTo>
                <a:lnTo>
                  <a:pt x="8575901" y="4449831"/>
                </a:lnTo>
                <a:lnTo>
                  <a:pt x="0" y="4449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9664" y="2153630"/>
            <a:ext cx="8537904" cy="4490862"/>
          </a:xfrm>
          <a:custGeom>
            <a:avLst/>
            <a:gdLst/>
            <a:ahLst/>
            <a:cxnLst/>
            <a:rect r="r" b="b" t="t" l="l"/>
            <a:pathLst>
              <a:path h="4490862" w="8537904">
                <a:moveTo>
                  <a:pt x="0" y="0"/>
                </a:moveTo>
                <a:lnTo>
                  <a:pt x="8537904" y="0"/>
                </a:lnTo>
                <a:lnTo>
                  <a:pt x="8537904" y="4490862"/>
                </a:lnTo>
                <a:lnTo>
                  <a:pt x="0" y="4490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1500" y="529245"/>
            <a:ext cx="13883337" cy="111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b="true" sz="9413" spc="-376">
                <a:solidFill>
                  <a:srgbClr val="DA03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MAP LAYOUT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56049" y="6938462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94146" y="7149317"/>
            <a:ext cx="460692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85854"/>
          </a:xfrm>
          <a:custGeom>
            <a:avLst/>
            <a:gdLst/>
            <a:ahLst/>
            <a:cxnLst/>
            <a:rect r="r" b="b" t="t" l="l"/>
            <a:pathLst>
              <a:path h="10485854" w="18288000">
                <a:moveTo>
                  <a:pt x="0" y="0"/>
                </a:moveTo>
                <a:lnTo>
                  <a:pt x="18288000" y="0"/>
                </a:lnTo>
                <a:lnTo>
                  <a:pt x="18288000" y="10485854"/>
                </a:lnTo>
                <a:lnTo>
                  <a:pt x="0" y="10485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6" r="-179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8910" y="5242927"/>
            <a:ext cx="108555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SOURCE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0498" y="7243263"/>
            <a:ext cx="6111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6092" y="7899008"/>
            <a:ext cx="302458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72">
                <a:solidFill>
                  <a:srgbClr val="515683"/>
                </a:solidFill>
                <a:latin typeface="Open Sauce"/>
                <a:ea typeface="Open Sauce"/>
                <a:cs typeface="Open Sauce"/>
                <a:sym typeface="Open Sauce"/>
              </a:rPr>
              <a:t>---  TOWER UPGRADE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4254"/>
            <a:ext cx="18288000" cy="10354660"/>
          </a:xfrm>
          <a:custGeom>
            <a:avLst/>
            <a:gdLst/>
            <a:ahLst/>
            <a:cxnLst/>
            <a:rect r="r" b="b" t="t" l="l"/>
            <a:pathLst>
              <a:path h="10354660" w="18288000">
                <a:moveTo>
                  <a:pt x="0" y="0"/>
                </a:moveTo>
                <a:lnTo>
                  <a:pt x="18288000" y="0"/>
                </a:lnTo>
                <a:lnTo>
                  <a:pt x="18288000" y="10354660"/>
                </a:lnTo>
                <a:lnTo>
                  <a:pt x="0" y="1035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2" r="-869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3" r="0" b="-103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60588"/>
          </a:xfrm>
          <a:custGeom>
            <a:avLst/>
            <a:gdLst/>
            <a:ahLst/>
            <a:cxnLst/>
            <a:rect r="r" b="b" t="t" l="l"/>
            <a:pathLst>
              <a:path h="10360588" w="18288000">
                <a:moveTo>
                  <a:pt x="0" y="0"/>
                </a:moveTo>
                <a:lnTo>
                  <a:pt x="18288000" y="0"/>
                </a:lnTo>
                <a:lnTo>
                  <a:pt x="18288000" y="10360588"/>
                </a:lnTo>
                <a:lnTo>
                  <a:pt x="0" y="10360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" r="-704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" t="0" r="-33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-604898328" y="-239203889"/>
            <a:ext cx="1224927365" cy="488063319"/>
          </a:xfrm>
          <a:prstGeom prst="line">
            <a:avLst/>
          </a:prstGeom>
          <a:ln cap="flat" w="7734300">
            <a:solidFill>
              <a:srgbClr val="F9FF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856346" y="4146550"/>
            <a:ext cx="7943850" cy="19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  <a:spcBef>
                <a:spcPct val="0"/>
              </a:spcBef>
            </a:pPr>
            <a:r>
              <a:rPr lang="en-US" b="true" sz="12000" spc="-35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</a:t>
            </a:r>
            <a:r>
              <a:rPr lang="en-US" b="true" sz="12000" spc="-35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IVE DEMO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994" y="8615778"/>
            <a:ext cx="3613112" cy="112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6"/>
              </a:lnSpc>
            </a:pPr>
            <a:r>
              <a:rPr lang="en-US" sz="9305" spc="-372">
                <a:solidFill>
                  <a:srgbClr val="FFDE5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9305" spc="-372">
                <a:solidFill>
                  <a:srgbClr val="FFDE59"/>
                </a:solidFill>
                <a:latin typeface="DM Sans"/>
                <a:ea typeface="DM Sans"/>
                <a:cs typeface="DM Sans"/>
                <a:sym typeface="DM Sans"/>
              </a:rPr>
              <a:t>EV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-604898328" y="-239203889"/>
            <a:ext cx="1224927365" cy="488063319"/>
          </a:xfrm>
          <a:prstGeom prst="line">
            <a:avLst/>
          </a:prstGeom>
          <a:ln cap="flat" w="7734300">
            <a:solidFill>
              <a:srgbClr val="F9FF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469589" y="4146550"/>
            <a:ext cx="12717363" cy="19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  <a:spcBef>
                <a:spcPct val="0"/>
              </a:spcBef>
            </a:pPr>
            <a:r>
              <a:rPr lang="en-US" b="true" sz="12000" spc="-35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12000" spc="-35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ECHNICAL SPEC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-604319836" y="-239052978"/>
            <a:ext cx="1224927365" cy="488063319"/>
          </a:xfrm>
          <a:prstGeom prst="line">
            <a:avLst/>
          </a:prstGeom>
          <a:ln cap="flat" w="7734300">
            <a:solidFill>
              <a:srgbClr val="F9FF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283890" y="2533976"/>
            <a:ext cx="8273560" cy="47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8547" indent="-759273" lvl="1">
              <a:lnSpc>
                <a:spcPts val="7525"/>
              </a:lnSpc>
              <a:buFont typeface="Arial"/>
              <a:buChar char="•"/>
            </a:pPr>
            <a:r>
              <a:rPr lang="en-US" sz="7033" spc="-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</a:t>
            </a:r>
          </a:p>
          <a:p>
            <a:pPr algn="l" marL="1518547" indent="-759273" lvl="1">
              <a:lnSpc>
                <a:spcPts val="7525"/>
              </a:lnSpc>
              <a:buFont typeface="Arial"/>
              <a:buChar char="•"/>
            </a:pPr>
            <a:r>
              <a:rPr lang="en-US" sz="7033" spc="-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Techniques</a:t>
            </a:r>
          </a:p>
          <a:p>
            <a:pPr algn="l" marL="1518547" indent="-759273" lvl="1">
              <a:lnSpc>
                <a:spcPts val="7525"/>
              </a:lnSpc>
              <a:buFont typeface="Arial"/>
              <a:buChar char="•"/>
            </a:pPr>
            <a:r>
              <a:rPr lang="en-US" sz="7033" spc="-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</a:p>
          <a:p>
            <a:pPr algn="l" marL="1518547" indent="-759273" lvl="1">
              <a:lnSpc>
                <a:spcPts val="7525"/>
              </a:lnSpc>
              <a:buFont typeface="Arial"/>
              <a:buChar char="•"/>
            </a:pPr>
            <a:r>
              <a:rPr lang="en-US" sz="7033" spc="-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Graphic</a:t>
            </a:r>
          </a:p>
          <a:p>
            <a:pPr algn="l" marL="1518547" indent="-759273" lvl="1">
              <a:lnSpc>
                <a:spcPts val="7525"/>
              </a:lnSpc>
              <a:buFont typeface="Arial"/>
              <a:buChar char="•"/>
            </a:pPr>
            <a:r>
              <a:rPr lang="en-US" sz="7033" spc="-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Workflow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4581" y="3665063"/>
            <a:ext cx="3086100" cy="1250017"/>
            <a:chOff x="0" y="0"/>
            <a:chExt cx="812800" cy="329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APPLICATION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7826" y="416530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792043" y="4915080"/>
            <a:ext cx="1784970" cy="2405787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248993" y="7320867"/>
            <a:ext cx="3086100" cy="1250017"/>
            <a:chOff x="0" y="0"/>
            <a:chExt cx="812800" cy="329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COMPONENTS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183928" y="4915080"/>
            <a:ext cx="2024822" cy="2405787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5665700" y="7320867"/>
            <a:ext cx="3086100" cy="1250017"/>
            <a:chOff x="0" y="0"/>
            <a:chExt cx="812800" cy="329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3335093" y="7945875"/>
            <a:ext cx="2330607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908785" y="4060376"/>
            <a:ext cx="11311908" cy="326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4916" indent="-517458" lvl="1">
              <a:lnSpc>
                <a:spcPts val="5129"/>
              </a:lnSpc>
              <a:buFont typeface="Arial"/>
              <a:buChar char="•"/>
            </a:pPr>
            <a:r>
              <a:rPr lang="en-US" sz="4793" spc="-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Tests</a:t>
            </a:r>
            <a:r>
              <a:rPr lang="en-US" sz="4793" spc="-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can run in edit mode</a:t>
            </a:r>
          </a:p>
          <a:p>
            <a:pPr algn="l">
              <a:lnSpc>
                <a:spcPts val="5129"/>
              </a:lnSpc>
            </a:pPr>
          </a:p>
          <a:p>
            <a:pPr algn="l" marL="1034916" indent="-517458" lvl="1">
              <a:lnSpc>
                <a:spcPts val="5129"/>
              </a:lnSpc>
              <a:buFont typeface="Arial"/>
              <a:buChar char="•"/>
            </a:pPr>
            <a:r>
              <a:rPr lang="en-US" sz="4793" spc="-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Swappable UI</a:t>
            </a:r>
          </a:p>
          <a:p>
            <a:pPr algn="l">
              <a:lnSpc>
                <a:spcPts val="5129"/>
              </a:lnSpc>
            </a:pPr>
          </a:p>
          <a:p>
            <a:pPr algn="l" marL="1034916" indent="-517458" lvl="1">
              <a:lnSpc>
                <a:spcPts val="5129"/>
              </a:lnSpc>
              <a:buFont typeface="Arial"/>
              <a:buChar char="•"/>
            </a:pPr>
            <a:r>
              <a:rPr lang="en-US" sz="4793" spc="-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Readability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7826" y="1977986"/>
            <a:ext cx="5413871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Layered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53680" y="2903002"/>
            <a:ext cx="3294546" cy="76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b="true" sz="4645" spc="-1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416530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4458196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Single Entry Point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7826" y="5323350"/>
            <a:ext cx="3086100" cy="1250017"/>
            <a:chOff x="0" y="0"/>
            <a:chExt cx="812800" cy="3292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APPLICATION LIFE TIME SCOPE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826" y="4649672"/>
            <a:ext cx="2670587" cy="47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  <a:spcBef>
                <a:spcPct val="0"/>
              </a:spcBef>
            </a:pPr>
            <a:r>
              <a:rPr lang="en-US" sz="3431" spc="-137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Monobehavior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3502711" y="3746721"/>
            <a:ext cx="3041862" cy="2126182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6544573" y="2631252"/>
            <a:ext cx="5198854" cy="2230938"/>
            <a:chOff x="0" y="0"/>
            <a:chExt cx="1369245" cy="5875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9245" cy="587572"/>
            </a:xfrm>
            <a:custGeom>
              <a:avLst/>
              <a:gdLst/>
              <a:ahLst/>
              <a:cxnLst/>
              <a:rect r="r" b="b" t="t" l="l"/>
              <a:pathLst>
                <a:path h="587572" w="1369245">
                  <a:moveTo>
                    <a:pt x="75947" y="0"/>
                  </a:moveTo>
                  <a:lnTo>
                    <a:pt x="1293298" y="0"/>
                  </a:lnTo>
                  <a:cubicBezTo>
                    <a:pt x="1335243" y="0"/>
                    <a:pt x="1369245" y="34003"/>
                    <a:pt x="1369245" y="75947"/>
                  </a:cubicBezTo>
                  <a:lnTo>
                    <a:pt x="1369245" y="511625"/>
                  </a:lnTo>
                  <a:cubicBezTo>
                    <a:pt x="1369245" y="531767"/>
                    <a:pt x="1361244" y="551085"/>
                    <a:pt x="1347001" y="565328"/>
                  </a:cubicBezTo>
                  <a:cubicBezTo>
                    <a:pt x="1332758" y="579571"/>
                    <a:pt x="1313441" y="587572"/>
                    <a:pt x="1293298" y="587572"/>
                  </a:cubicBezTo>
                  <a:lnTo>
                    <a:pt x="75947" y="587572"/>
                  </a:lnTo>
                  <a:cubicBezTo>
                    <a:pt x="55805" y="587572"/>
                    <a:pt x="36487" y="579571"/>
                    <a:pt x="22244" y="565328"/>
                  </a:cubicBezTo>
                  <a:cubicBezTo>
                    <a:pt x="8002" y="551085"/>
                    <a:pt x="0" y="531767"/>
                    <a:pt x="0" y="511625"/>
                  </a:cubicBezTo>
                  <a:lnTo>
                    <a:pt x="0" y="75947"/>
                  </a:lnTo>
                  <a:cubicBezTo>
                    <a:pt x="0" y="55805"/>
                    <a:pt x="8002" y="36487"/>
                    <a:pt x="22244" y="22244"/>
                  </a:cubicBezTo>
                  <a:cubicBezTo>
                    <a:pt x="36487" y="8002"/>
                    <a:pt x="55805" y="0"/>
                    <a:pt x="75947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369245" cy="578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INIT SYSTEM,</a:t>
              </a:r>
            </a:p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REGISTER COMPONENTS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17826" y="6821017"/>
            <a:ext cx="1992607" cy="47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  <a:spcBef>
                <a:spcPct val="0"/>
              </a:spcBef>
            </a:pPr>
            <a:r>
              <a:rPr lang="en-US" sz="3431" spc="-137">
                <a:solidFill>
                  <a:srgbClr val="6F5936"/>
                </a:solidFill>
                <a:latin typeface="DM Sans"/>
                <a:ea typeface="DM Sans"/>
                <a:cs typeface="DM Sans"/>
                <a:sym typeface="DM Sans"/>
              </a:rPr>
              <a:t>Bootscene</a:t>
            </a:r>
          </a:p>
        </p:txBody>
      </p:sp>
      <p:sp>
        <p:nvSpPr>
          <p:cNvPr name="AutoShape 13" id="13"/>
          <p:cNvSpPr/>
          <p:nvPr/>
        </p:nvSpPr>
        <p:spPr>
          <a:xfrm flipH="true">
            <a:off x="9126892" y="4862190"/>
            <a:ext cx="17108" cy="1063218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6527465" y="5925408"/>
            <a:ext cx="5198854" cy="2074952"/>
            <a:chOff x="0" y="0"/>
            <a:chExt cx="1369245" cy="5464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9245" cy="546489"/>
            </a:xfrm>
            <a:custGeom>
              <a:avLst/>
              <a:gdLst/>
              <a:ahLst/>
              <a:cxnLst/>
              <a:rect r="r" b="b" t="t" l="l"/>
              <a:pathLst>
                <a:path h="546489" w="1369245">
                  <a:moveTo>
                    <a:pt x="75947" y="0"/>
                  </a:moveTo>
                  <a:lnTo>
                    <a:pt x="1293298" y="0"/>
                  </a:lnTo>
                  <a:cubicBezTo>
                    <a:pt x="1335243" y="0"/>
                    <a:pt x="1369245" y="34003"/>
                    <a:pt x="1369245" y="75947"/>
                  </a:cubicBezTo>
                  <a:lnTo>
                    <a:pt x="1369245" y="470542"/>
                  </a:lnTo>
                  <a:cubicBezTo>
                    <a:pt x="1369245" y="490685"/>
                    <a:pt x="1361244" y="510002"/>
                    <a:pt x="1347001" y="524245"/>
                  </a:cubicBezTo>
                  <a:cubicBezTo>
                    <a:pt x="1332758" y="538488"/>
                    <a:pt x="1313441" y="546489"/>
                    <a:pt x="1293298" y="546489"/>
                  </a:cubicBezTo>
                  <a:lnTo>
                    <a:pt x="75947" y="546489"/>
                  </a:lnTo>
                  <a:cubicBezTo>
                    <a:pt x="55805" y="546489"/>
                    <a:pt x="36487" y="538488"/>
                    <a:pt x="22244" y="524245"/>
                  </a:cubicBezTo>
                  <a:cubicBezTo>
                    <a:pt x="8002" y="510002"/>
                    <a:pt x="0" y="490685"/>
                    <a:pt x="0" y="470542"/>
                  </a:cubicBezTo>
                  <a:lnTo>
                    <a:pt x="0" y="75947"/>
                  </a:lnTo>
                  <a:cubicBezTo>
                    <a:pt x="0" y="55805"/>
                    <a:pt x="8002" y="36487"/>
                    <a:pt x="22244" y="22244"/>
                  </a:cubicBezTo>
                  <a:cubicBezTo>
                    <a:pt x="36487" y="8002"/>
                    <a:pt x="55805" y="0"/>
                    <a:pt x="75947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369245" cy="53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SINGLE ENTRY POINT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264508" y="8198451"/>
            <a:ext cx="4142477" cy="7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916" spc="-1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RUN UNITY LIFE CYCLE (ITickable/ILateTickable)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1726319" y="5203745"/>
            <a:ext cx="2675158" cy="1759139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11726319" y="6962884"/>
            <a:ext cx="2675158" cy="1812298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1726319" y="6962884"/>
            <a:ext cx="2675158" cy="0"/>
          </a:xfrm>
          <a:prstGeom prst="line">
            <a:avLst/>
          </a:prstGeom>
          <a:ln cap="flat" w="1428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4376325" y="4840232"/>
            <a:ext cx="2557912" cy="903309"/>
            <a:chOff x="0" y="0"/>
            <a:chExt cx="673689" cy="2379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3689" cy="237909"/>
            </a:xfrm>
            <a:custGeom>
              <a:avLst/>
              <a:gdLst/>
              <a:ahLst/>
              <a:cxnLst/>
              <a:rect r="r" b="b" t="t" l="l"/>
              <a:pathLst>
                <a:path h="237909" w="673689">
                  <a:moveTo>
                    <a:pt x="118954" y="0"/>
                  </a:moveTo>
                  <a:lnTo>
                    <a:pt x="554734" y="0"/>
                  </a:lnTo>
                  <a:cubicBezTo>
                    <a:pt x="620431" y="0"/>
                    <a:pt x="673689" y="53258"/>
                    <a:pt x="673689" y="118954"/>
                  </a:cubicBezTo>
                  <a:lnTo>
                    <a:pt x="673689" y="118954"/>
                  </a:lnTo>
                  <a:cubicBezTo>
                    <a:pt x="673689" y="184651"/>
                    <a:pt x="620431" y="237909"/>
                    <a:pt x="554734" y="237909"/>
                  </a:cubicBezTo>
                  <a:lnTo>
                    <a:pt x="118954" y="237909"/>
                  </a:lnTo>
                  <a:cubicBezTo>
                    <a:pt x="53258" y="237909"/>
                    <a:pt x="0" y="184651"/>
                    <a:pt x="0" y="118954"/>
                  </a:cubicBezTo>
                  <a:lnTo>
                    <a:pt x="0" y="118954"/>
                  </a:lnTo>
                  <a:cubicBezTo>
                    <a:pt x="0" y="53258"/>
                    <a:pt x="53258" y="0"/>
                    <a:pt x="11895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673689" cy="22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 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01477" y="6511229"/>
            <a:ext cx="2557912" cy="903309"/>
            <a:chOff x="0" y="0"/>
            <a:chExt cx="673689" cy="2379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3689" cy="237909"/>
            </a:xfrm>
            <a:custGeom>
              <a:avLst/>
              <a:gdLst/>
              <a:ahLst/>
              <a:cxnLst/>
              <a:rect r="r" b="b" t="t" l="l"/>
              <a:pathLst>
                <a:path h="237909" w="673689">
                  <a:moveTo>
                    <a:pt x="118954" y="0"/>
                  </a:moveTo>
                  <a:lnTo>
                    <a:pt x="554734" y="0"/>
                  </a:lnTo>
                  <a:cubicBezTo>
                    <a:pt x="620431" y="0"/>
                    <a:pt x="673689" y="53258"/>
                    <a:pt x="673689" y="118954"/>
                  </a:cubicBezTo>
                  <a:lnTo>
                    <a:pt x="673689" y="118954"/>
                  </a:lnTo>
                  <a:cubicBezTo>
                    <a:pt x="673689" y="184651"/>
                    <a:pt x="620431" y="237909"/>
                    <a:pt x="554734" y="237909"/>
                  </a:cubicBezTo>
                  <a:lnTo>
                    <a:pt x="118954" y="237909"/>
                  </a:lnTo>
                  <a:cubicBezTo>
                    <a:pt x="53258" y="237909"/>
                    <a:pt x="0" y="184651"/>
                    <a:pt x="0" y="118954"/>
                  </a:cubicBezTo>
                  <a:lnTo>
                    <a:pt x="0" y="118954"/>
                  </a:lnTo>
                  <a:cubicBezTo>
                    <a:pt x="0" y="53258"/>
                    <a:pt x="53258" y="0"/>
                    <a:pt x="11895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73689" cy="22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 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01477" y="8323527"/>
            <a:ext cx="2557912" cy="903309"/>
            <a:chOff x="0" y="0"/>
            <a:chExt cx="673689" cy="2379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3689" cy="237909"/>
            </a:xfrm>
            <a:custGeom>
              <a:avLst/>
              <a:gdLst/>
              <a:ahLst/>
              <a:cxnLst/>
              <a:rect r="r" b="b" t="t" l="l"/>
              <a:pathLst>
                <a:path h="237909" w="673689">
                  <a:moveTo>
                    <a:pt x="118954" y="0"/>
                  </a:moveTo>
                  <a:lnTo>
                    <a:pt x="554734" y="0"/>
                  </a:lnTo>
                  <a:cubicBezTo>
                    <a:pt x="620431" y="0"/>
                    <a:pt x="673689" y="53258"/>
                    <a:pt x="673689" y="118954"/>
                  </a:cubicBezTo>
                  <a:lnTo>
                    <a:pt x="673689" y="118954"/>
                  </a:lnTo>
                  <a:cubicBezTo>
                    <a:pt x="673689" y="184651"/>
                    <a:pt x="620431" y="237909"/>
                    <a:pt x="554734" y="237909"/>
                  </a:cubicBezTo>
                  <a:lnTo>
                    <a:pt x="118954" y="237909"/>
                  </a:lnTo>
                  <a:cubicBezTo>
                    <a:pt x="53258" y="237909"/>
                    <a:pt x="0" y="184651"/>
                    <a:pt x="0" y="118954"/>
                  </a:cubicBezTo>
                  <a:lnTo>
                    <a:pt x="0" y="118954"/>
                  </a:lnTo>
                  <a:cubicBezTo>
                    <a:pt x="0" y="53258"/>
                    <a:pt x="53258" y="0"/>
                    <a:pt x="11895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73689" cy="228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 C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210277" y="1806610"/>
            <a:ext cx="4919569" cy="118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972" indent="-312486" lvl="1">
              <a:lnSpc>
                <a:spcPts val="3097"/>
              </a:lnSpc>
              <a:buFont typeface="Arial"/>
              <a:buChar char="•"/>
            </a:pPr>
            <a:r>
              <a:rPr lang="en-US" sz="2894" spc="-11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Execution Orders</a:t>
            </a:r>
          </a:p>
          <a:p>
            <a:pPr algn="l">
              <a:lnSpc>
                <a:spcPts val="3097"/>
              </a:lnSpc>
            </a:pPr>
          </a:p>
          <a:p>
            <a:pPr algn="l" marL="624972" indent="-312486" lvl="1">
              <a:lnSpc>
                <a:spcPts val="3097"/>
              </a:lnSpc>
              <a:buFont typeface="Arial"/>
              <a:buChar char="•"/>
            </a:pPr>
            <a:r>
              <a:rPr lang="en-US" sz="2894" spc="-11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 Update() cost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39332" y="1098347"/>
            <a:ext cx="1989532" cy="46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b="true" sz="2805" spc="-8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416530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9175651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VContainer - Dependency Injection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826" y="3362012"/>
            <a:ext cx="2713006" cy="63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b="true" sz="3825" spc="-11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6386" y="4587951"/>
            <a:ext cx="10027445" cy="304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3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Nested scopes match the game's real lifetimes</a:t>
            </a:r>
          </a:p>
          <a:p>
            <a:pPr algn="l">
              <a:lnSpc>
                <a:spcPts val="3414"/>
              </a:lnSpc>
            </a:pPr>
          </a:p>
          <a:p>
            <a:pPr algn="l" marL="689063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Lev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scope disposed → 33 systems die together, no leaks</a:t>
            </a:r>
          </a:p>
          <a:p>
            <a:pPr algn="l">
              <a:lnSpc>
                <a:spcPts val="3414"/>
              </a:lnSpc>
            </a:pPr>
          </a:p>
          <a:p>
            <a:pPr algn="l" marL="689063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Dependencies visible in the constructor signature</a:t>
            </a:r>
          </a:p>
          <a:p>
            <a:pPr algn="l">
              <a:lnSpc>
                <a:spcPts val="341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585512" y="3589867"/>
            <a:ext cx="5052126" cy="63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b="true" sz="3825" spc="-11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DISADVANTAGE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2250" y="4587951"/>
            <a:ext cx="10027445" cy="131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3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 Fail whole game Fail</a:t>
            </a:r>
          </a:p>
          <a:p>
            <a:pPr algn="l">
              <a:lnSpc>
                <a:spcPts val="3414"/>
              </a:lnSpc>
            </a:pPr>
          </a:p>
          <a:p>
            <a:pPr algn="l" marL="689063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Hard to debug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1930" y="2340566"/>
            <a:ext cx="9899572" cy="2528053"/>
          </a:xfrm>
          <a:custGeom>
            <a:avLst/>
            <a:gdLst/>
            <a:ahLst/>
            <a:cxnLst/>
            <a:rect r="r" b="b" t="t" l="l"/>
            <a:pathLst>
              <a:path h="2528053" w="9899572">
                <a:moveTo>
                  <a:pt x="0" y="0"/>
                </a:moveTo>
                <a:lnTo>
                  <a:pt x="9899572" y="0"/>
                </a:lnTo>
                <a:lnTo>
                  <a:pt x="9899572" y="2528053"/>
                </a:lnTo>
                <a:lnTo>
                  <a:pt x="0" y="2528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7826" y="567441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826" y="2128897"/>
            <a:ext cx="3115370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Tick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826" y="3301924"/>
            <a:ext cx="6907216" cy="60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b="true" sz="3690" spc="-110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=&gt; </a:t>
            </a:r>
            <a:r>
              <a:rPr lang="en-US" b="true" sz="3690" spc="-110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MID-WAVE INTERACTION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826" y="4440661"/>
            <a:ext cx="13121119" cy="516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Precomputed 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rame-rate independent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Z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ero raycasts, colliders or collision callbacks during combat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Lookahead — can query events before they happen (</a:t>
            </a:r>
            <a:r>
              <a:rPr lang="en-US" b="true" sz="3191" spc="-12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For Tutorial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Speed control is one multiplication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Testable without a scene</a:t>
            </a:r>
          </a:p>
          <a:p>
            <a:pPr algn="l">
              <a:lnSpc>
                <a:spcPts val="3414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567441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TECHNIQUES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14518284" cy="196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Object Pooling, Particle Emitter, VFX Prewarm, Audio Pool</a:t>
            </a:r>
          </a:p>
          <a:p>
            <a:pPr algn="l">
              <a:lnSpc>
                <a:spcPts val="5129"/>
              </a:lnSpc>
            </a:pPr>
          </a:p>
          <a:p>
            <a:pPr algn="l">
              <a:lnSpc>
                <a:spcPts val="512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86690" y="3657333"/>
            <a:ext cx="10027445" cy="431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 instantiate cost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 Draw call of Particle System, disadvantage: not for moving particle system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shader pipelines at boot to avoid first-use frame spikes.</a:t>
            </a:r>
          </a:p>
          <a:p>
            <a:pPr algn="l">
              <a:lnSpc>
                <a:spcPts val="3414"/>
              </a:lnSpc>
            </a:pPr>
          </a:p>
          <a:p>
            <a:pPr algn="l" marL="689062" indent="-344531" lvl="1">
              <a:lnSpc>
                <a:spcPts val="3414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Fixed 6 audio voices, steal by priority; cooldown blocks sound spam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567441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9594553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criptableObject, JSON Save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6690" y="3495408"/>
            <a:ext cx="10027445" cy="580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 ScriptableObject types — designer balances numbers without touching code</a:t>
            </a:r>
          </a:p>
          <a:p>
            <a:pPr algn="l">
              <a:lnSpc>
                <a:spcPts val="5106"/>
              </a:lnSpc>
            </a:pP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Every asset self-validates at load, not mid-game</a:t>
            </a:r>
          </a:p>
          <a:p>
            <a:pPr algn="l">
              <a:lnSpc>
                <a:spcPts val="5106"/>
              </a:lnSpc>
            </a:pP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Save: write temp → validate → atomic File.Replace, never a half-written file</a:t>
            </a:r>
          </a:p>
          <a:p>
            <a:pPr algn="l">
              <a:lnSpc>
                <a:spcPts val="5106"/>
              </a:lnSpc>
            </a:pP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Primary + backup copy; stale schemaVersion rejected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567441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GRAPHIC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1645444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loom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826" y="2865263"/>
            <a:ext cx="10027445" cy="1914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DownScale: Mặc định Half → Quarter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DownSample: Mặc định 6 → 4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Quality Filtering: Mặc định Bật → tắt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826" y="5200650"/>
            <a:ext cx="2949278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ightBaking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826" y="6289441"/>
            <a:ext cx="6842522" cy="131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Batching &amp; GPU Instancing</a:t>
            </a:r>
          </a:p>
          <a:p>
            <a:pPr algn="l">
              <a:lnSpc>
                <a:spcPts val="512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9011" y="6411631"/>
            <a:ext cx="17517774" cy="502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</a:p>
          <a:p>
            <a:pPr algn="l" marL="598759" indent="-299379" lvl="1">
              <a:lnSpc>
                <a:spcPts val="4437"/>
              </a:lnSpc>
              <a:buFont typeface="Arial"/>
              <a:buChar char="•"/>
            </a:pPr>
            <a:r>
              <a:rPr lang="en-US" sz="2773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Rule: a type repeated 6+ times in a level drops Batching Static and falls back to GPU Instancing - static batching duplicates transformed vertices per repeat, instancing stores the mesh once</a:t>
            </a:r>
          </a:p>
          <a:p>
            <a:pPr algn="l" marL="598759" indent="-299379" lvl="1">
              <a:lnSpc>
                <a:spcPts val="4437"/>
              </a:lnSpc>
              <a:buFont typeface="Arial"/>
              <a:buChar char="•"/>
            </a:pPr>
            <a:r>
              <a:rPr lang="en-US" sz="2773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008 BananaTree ×12, SmallBush ×8, SunstoneCliff ×7, BananaTree2 ×7, BananaTree3 ×6</a:t>
            </a:r>
          </a:p>
          <a:p>
            <a:pPr algn="l" marL="598759" indent="-299379" lvl="1">
              <a:lnSpc>
                <a:spcPts val="4437"/>
              </a:lnSpc>
              <a:buFont typeface="Arial"/>
              <a:buChar char="•"/>
            </a:pPr>
            <a:r>
              <a:rPr lang="en-US" sz="2773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006 Rock_04 ×10, BigRock ×8, SmallBush ×8, VerticalTwig ×7, SmallRock ×6</a:t>
            </a:r>
          </a:p>
          <a:p>
            <a:pPr algn="l" marL="598759" indent="-299379" lvl="1">
              <a:lnSpc>
                <a:spcPts val="4437"/>
              </a:lnSpc>
              <a:buFont typeface="Arial"/>
              <a:buChar char="•"/>
            </a:pPr>
            <a:r>
              <a:rPr lang="en-US" sz="2773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009 SmallBush ×13, BananaTree ×13, MediumBush ×9, SunstoneCliff ×7, BananaTree2 ×7, BananaTree3 ×6</a:t>
            </a:r>
          </a:p>
          <a:p>
            <a:pPr algn="l" marL="598759" indent="-299379" lvl="1">
              <a:lnSpc>
                <a:spcPts val="4437"/>
              </a:lnSpc>
              <a:buFont typeface="Arial"/>
              <a:buChar char="•"/>
            </a:pPr>
            <a:r>
              <a:rPr lang="en-US" sz="2773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010 BananaTree ×14, SmallBush ×12, MediumBush ×9, SM_Env_Flowers_01 ×8, SunstoneCliff ×7, BananaTree2 ×7, Rock_03 ×6</a:t>
            </a:r>
          </a:p>
          <a:p>
            <a:pPr algn="l">
              <a:lnSpc>
                <a:spcPts val="4437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567441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GRAPHIC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6402388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aterial Properties Block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826" y="2865263"/>
            <a:ext cx="17670174" cy="450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nemies and towers are tinted per object (damage flash, stealth, element) - only a Material Property Block can do that without cloning the material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But SRP Batcher needs every property inside CBUFFER UnityPerMaterial, so one shader cannot serve both paths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TheVayuputra/ToonShader, CBUFFER UnityPerMaterial - scenery, props, environment | SRP Batcher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TheVayuputra/ToonShaderInstanced, UNITY_INSTANCING_BUFFER - enemies, towers, frog | GPU Instancing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1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567441"/>
            <a:ext cx="13293365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7857" spc="-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GRAPHIC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2128897"/>
            <a:ext cx="2960191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prite Atlas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826" y="2865263"/>
            <a:ext cx="17670174" cy="320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atlases split by screen: Gameplay 35 sprites, Menu 7, Shared 11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 atlas is one texture, fully resident while any sprite in it is on screen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Merged into one, Menu sprites would sit in RAM through a whole level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Shared holds what both screens use, so nothing is duplicated</a:t>
            </a:r>
          </a:p>
          <a:p>
            <a:pPr algn="l" marL="689062" indent="-344531" lvl="1">
              <a:lnSpc>
                <a:spcPts val="5106"/>
              </a:lnSpc>
              <a:buFont typeface="Arial"/>
              <a:buChar char="•"/>
            </a:pPr>
            <a:r>
              <a:rPr lang="en-US" sz="3191" spc="-1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ETC2_RGBA8 on Android, max size 2048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826" y="6531956"/>
            <a:ext cx="3874492" cy="6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4793" spc="-191">
                <a:solidFill>
                  <a:srgbClr val="515683"/>
                </a:solidFill>
                <a:latin typeface="DM Sans"/>
                <a:ea typeface="DM Sans"/>
                <a:cs typeface="DM Sans"/>
                <a:sym typeface="DM Sans"/>
              </a:rPr>
              <a:t>aycast Target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9110" y="567441"/>
            <a:ext cx="12458378" cy="6005050"/>
          </a:xfrm>
          <a:custGeom>
            <a:avLst/>
            <a:gdLst/>
            <a:ahLst/>
            <a:cxnLst/>
            <a:rect r="r" b="b" t="t" l="l"/>
            <a:pathLst>
              <a:path h="6005050" w="12458378">
                <a:moveTo>
                  <a:pt x="0" y="0"/>
                </a:moveTo>
                <a:lnTo>
                  <a:pt x="12458378" y="0"/>
                </a:lnTo>
                <a:lnTo>
                  <a:pt x="12458378" y="6005050"/>
                </a:lnTo>
                <a:lnTo>
                  <a:pt x="0" y="6005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1170" r="0" b="-68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6931" y="4517000"/>
            <a:ext cx="5132756" cy="4741300"/>
          </a:xfrm>
          <a:custGeom>
            <a:avLst/>
            <a:gdLst/>
            <a:ahLst/>
            <a:cxnLst/>
            <a:rect r="r" b="b" t="t" l="l"/>
            <a:pathLst>
              <a:path h="4741300" w="5132756">
                <a:moveTo>
                  <a:pt x="0" y="0"/>
                </a:moveTo>
                <a:lnTo>
                  <a:pt x="5132756" y="0"/>
                </a:lnTo>
                <a:lnTo>
                  <a:pt x="5132756" y="4741300"/>
                </a:lnTo>
                <a:lnTo>
                  <a:pt x="0" y="474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01" r="-64193" b="-10026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3349" y="5820083"/>
            <a:ext cx="7736160" cy="3840647"/>
          </a:xfrm>
          <a:custGeom>
            <a:avLst/>
            <a:gdLst/>
            <a:ahLst/>
            <a:cxnLst/>
            <a:rect r="r" b="b" t="t" l="l"/>
            <a:pathLst>
              <a:path h="3840647" w="7736160">
                <a:moveTo>
                  <a:pt x="0" y="0"/>
                </a:moveTo>
                <a:lnTo>
                  <a:pt x="7736160" y="0"/>
                </a:lnTo>
                <a:lnTo>
                  <a:pt x="7736160" y="3840646"/>
                </a:lnTo>
                <a:lnTo>
                  <a:pt x="0" y="3840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7826" y="567441"/>
            <a:ext cx="9579309" cy="93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4"/>
              </a:lnSpc>
            </a:pPr>
            <a:r>
              <a:rPr lang="en-US" b="true" sz="5662" spc="-16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826" y="1550830"/>
            <a:ext cx="3685483" cy="49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2"/>
              </a:lnSpc>
              <a:spcBef>
                <a:spcPct val="0"/>
              </a:spcBef>
            </a:pPr>
            <a:r>
              <a:rPr lang="en-US" sz="3554" spc="-1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554" spc="-1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odel optimization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2638" y="2308316"/>
            <a:ext cx="4464842" cy="3278201"/>
          </a:xfrm>
          <a:custGeom>
            <a:avLst/>
            <a:gdLst/>
            <a:ahLst/>
            <a:cxnLst/>
            <a:rect r="r" b="b" t="t" l="l"/>
            <a:pathLst>
              <a:path h="3278201" w="4464842">
                <a:moveTo>
                  <a:pt x="0" y="0"/>
                </a:moveTo>
                <a:lnTo>
                  <a:pt x="4464842" y="0"/>
                </a:lnTo>
                <a:lnTo>
                  <a:pt x="4464842" y="3278201"/>
                </a:lnTo>
                <a:lnTo>
                  <a:pt x="0" y="3278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02419" y="2308316"/>
            <a:ext cx="4022441" cy="3642471"/>
          </a:xfrm>
          <a:custGeom>
            <a:avLst/>
            <a:gdLst/>
            <a:ahLst/>
            <a:cxnLst/>
            <a:rect r="r" b="b" t="t" l="l"/>
            <a:pathLst>
              <a:path h="3642471" w="4022441">
                <a:moveTo>
                  <a:pt x="0" y="0"/>
                </a:moveTo>
                <a:lnTo>
                  <a:pt x="4022441" y="0"/>
                </a:lnTo>
                <a:lnTo>
                  <a:pt x="4022441" y="3642471"/>
                </a:lnTo>
                <a:lnTo>
                  <a:pt x="0" y="3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88836" y="3379755"/>
            <a:ext cx="3086100" cy="1499592"/>
            <a:chOff x="0" y="0"/>
            <a:chExt cx="812800" cy="394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94954"/>
            </a:xfrm>
            <a:custGeom>
              <a:avLst/>
              <a:gdLst/>
              <a:ahLst/>
              <a:cxnLst/>
              <a:rect r="r" b="b" t="t" l="l"/>
              <a:pathLst>
                <a:path h="39495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67014"/>
                  </a:lnTo>
                  <a:cubicBezTo>
                    <a:pt x="812800" y="300946"/>
                    <a:pt x="799321" y="333488"/>
                    <a:pt x="775327" y="357481"/>
                  </a:cubicBezTo>
                  <a:cubicBezTo>
                    <a:pt x="751333" y="381475"/>
                    <a:pt x="718791" y="394954"/>
                    <a:pt x="684859" y="394954"/>
                  </a:cubicBezTo>
                  <a:lnTo>
                    <a:pt x="127941" y="394954"/>
                  </a:lnTo>
                  <a:cubicBezTo>
                    <a:pt x="94009" y="394954"/>
                    <a:pt x="61467" y="381475"/>
                    <a:pt x="37473" y="357481"/>
                  </a:cubicBezTo>
                  <a:cubicBezTo>
                    <a:pt x="13479" y="333488"/>
                    <a:pt x="0" y="300946"/>
                    <a:pt x="0" y="26701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12800" cy="385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BONES &amp; WEIGHT REFINE USING BLENDER MCP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838912" y="2819381"/>
            <a:ext cx="4285876" cy="3413068"/>
          </a:xfrm>
          <a:custGeom>
            <a:avLst/>
            <a:gdLst/>
            <a:ahLst/>
            <a:cxnLst/>
            <a:rect r="r" b="b" t="t" l="l"/>
            <a:pathLst>
              <a:path h="3413068" w="4285876">
                <a:moveTo>
                  <a:pt x="0" y="0"/>
                </a:moveTo>
                <a:lnTo>
                  <a:pt x="4285875" y="0"/>
                </a:lnTo>
                <a:lnTo>
                  <a:pt x="4285875" y="3413068"/>
                </a:lnTo>
                <a:lnTo>
                  <a:pt x="0" y="341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838881"/>
            <a:ext cx="10965936" cy="2419419"/>
          </a:xfrm>
          <a:custGeom>
            <a:avLst/>
            <a:gdLst/>
            <a:ahLst/>
            <a:cxnLst/>
            <a:rect r="r" b="b" t="t" l="l"/>
            <a:pathLst>
              <a:path h="2419419" w="10965936">
                <a:moveTo>
                  <a:pt x="0" y="0"/>
                </a:moveTo>
                <a:lnTo>
                  <a:pt x="10965936" y="0"/>
                </a:lnTo>
                <a:lnTo>
                  <a:pt x="10965936" y="2419419"/>
                </a:lnTo>
                <a:lnTo>
                  <a:pt x="0" y="2419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826" y="567441"/>
            <a:ext cx="9579309" cy="93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4"/>
              </a:lnSpc>
            </a:pPr>
            <a:r>
              <a:rPr lang="en-US" b="true" sz="5662" spc="-16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7826" y="1550830"/>
            <a:ext cx="1952904" cy="49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2"/>
              </a:lnSpc>
              <a:spcBef>
                <a:spcPct val="0"/>
              </a:spcBef>
            </a:pPr>
            <a:r>
              <a:rPr lang="en-US" sz="3554" spc="-1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Animation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826" y="567441"/>
            <a:ext cx="9579309" cy="93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4"/>
              </a:lnSpc>
            </a:pPr>
            <a:r>
              <a:rPr lang="en-US" b="true" sz="5662" spc="-16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826" y="1802348"/>
            <a:ext cx="1382415" cy="49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2"/>
              </a:lnSpc>
              <a:spcBef>
                <a:spcPct val="0"/>
              </a:spcBef>
            </a:pPr>
            <a:r>
              <a:rPr lang="en-US" sz="3554" spc="-14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Coding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7182" y="4243555"/>
            <a:ext cx="3086100" cy="1250017"/>
            <a:chOff x="0" y="0"/>
            <a:chExt cx="812800" cy="3292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AGENTS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3863282" y="3766287"/>
            <a:ext cx="1544198" cy="1102277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>
            <a:off x="3863282" y="4868564"/>
            <a:ext cx="1323103" cy="1785813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5407480" y="3141278"/>
            <a:ext cx="3086100" cy="1250017"/>
            <a:chOff x="0" y="0"/>
            <a:chExt cx="812800" cy="329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READ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86385" y="6029368"/>
            <a:ext cx="3086100" cy="1250017"/>
            <a:chOff x="0" y="0"/>
            <a:chExt cx="812800" cy="3292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WRITE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21110" y="1147066"/>
            <a:ext cx="3086100" cy="1250017"/>
            <a:chOff x="0" y="0"/>
            <a:chExt cx="812800" cy="3292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CODEGRAPH FOR CODING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8493580" y="1772075"/>
            <a:ext cx="3027529" cy="1994212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1571138" y="3158629"/>
            <a:ext cx="3086100" cy="1250017"/>
            <a:chOff x="0" y="0"/>
            <a:chExt cx="812800" cy="3292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COCOINDEX FOR DOCUMENTS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493580" y="3766287"/>
            <a:ext cx="3077558" cy="17351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8493580" y="3766287"/>
            <a:ext cx="3077558" cy="1869424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11571138" y="4885915"/>
            <a:ext cx="3086100" cy="1499592"/>
            <a:chOff x="0" y="0"/>
            <a:chExt cx="812800" cy="3949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394954"/>
            </a:xfrm>
            <a:custGeom>
              <a:avLst/>
              <a:gdLst/>
              <a:ahLst/>
              <a:cxnLst/>
              <a:rect r="r" b="b" t="t" l="l"/>
              <a:pathLst>
                <a:path h="39495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67014"/>
                  </a:lnTo>
                  <a:cubicBezTo>
                    <a:pt x="812800" y="300946"/>
                    <a:pt x="799321" y="333488"/>
                    <a:pt x="775327" y="357481"/>
                  </a:cubicBezTo>
                  <a:cubicBezTo>
                    <a:pt x="751333" y="381475"/>
                    <a:pt x="718791" y="394954"/>
                    <a:pt x="684859" y="394954"/>
                  </a:cubicBezTo>
                  <a:lnTo>
                    <a:pt x="127941" y="394954"/>
                  </a:lnTo>
                  <a:cubicBezTo>
                    <a:pt x="94009" y="394954"/>
                    <a:pt x="61467" y="381475"/>
                    <a:pt x="37473" y="357481"/>
                  </a:cubicBezTo>
                  <a:cubicBezTo>
                    <a:pt x="13479" y="333488"/>
                    <a:pt x="0" y="300946"/>
                    <a:pt x="0" y="26701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812800" cy="385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BETTER CONTEXT FOR FILES NAVIAGATION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272485" y="6654376"/>
            <a:ext cx="2176168" cy="730235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10448653" y="6759603"/>
            <a:ext cx="3086100" cy="1250017"/>
            <a:chOff x="0" y="0"/>
            <a:chExt cx="812800" cy="3292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SERENA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3863282" y="4868564"/>
            <a:ext cx="1249137" cy="4165312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5034495" y="8383716"/>
            <a:ext cx="3086100" cy="1250017"/>
            <a:chOff x="0" y="0"/>
            <a:chExt cx="812800" cy="3292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TASK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8120595" y="9008724"/>
            <a:ext cx="2328058" cy="0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10448653" y="8383716"/>
            <a:ext cx="3086100" cy="1250017"/>
            <a:chOff x="0" y="0"/>
            <a:chExt cx="812800" cy="3292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29222"/>
            </a:xfrm>
            <a:custGeom>
              <a:avLst/>
              <a:gdLst/>
              <a:ahLst/>
              <a:cxnLst/>
              <a:rect r="r" b="b" t="t" l="l"/>
              <a:pathLst>
                <a:path h="3292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282"/>
                  </a:lnTo>
                  <a:cubicBezTo>
                    <a:pt x="812800" y="235214"/>
                    <a:pt x="799321" y="267756"/>
                    <a:pt x="775327" y="291749"/>
                  </a:cubicBezTo>
                  <a:cubicBezTo>
                    <a:pt x="751333" y="315743"/>
                    <a:pt x="718791" y="329222"/>
                    <a:pt x="684859" y="329222"/>
                  </a:cubicBezTo>
                  <a:lnTo>
                    <a:pt x="127941" y="329222"/>
                  </a:lnTo>
                  <a:cubicBezTo>
                    <a:pt x="94009" y="329222"/>
                    <a:pt x="61467" y="315743"/>
                    <a:pt x="37473" y="291749"/>
                  </a:cubicBezTo>
                  <a:cubicBezTo>
                    <a:pt x="13479" y="267756"/>
                    <a:pt x="0" y="235214"/>
                    <a:pt x="0" y="20128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812800" cy="31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b="true" sz="2400" spc="-72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BEADS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7961" y="4911725"/>
            <a:ext cx="6052078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-83">
                <a:solidFill>
                  <a:srgbClr val="DA03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FOR YOUR ATTENTION.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50086" y="2290584"/>
            <a:ext cx="10387827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b="true" sz="7200" spc="-288">
                <a:solidFill>
                  <a:srgbClr val="FFDE59"/>
                </a:solidFill>
                <a:latin typeface="DM Sans Bold"/>
                <a:ea typeface="DM Sans Bold"/>
                <a:cs typeface="DM Sans Bold"/>
                <a:sym typeface="DM Sans Bold"/>
              </a:rPr>
              <a:t>HẠN TRỜI</a:t>
            </a:r>
          </a:p>
          <a:p>
            <a:pPr algn="ctr">
              <a:lnSpc>
                <a:spcPts val="9360"/>
              </a:lnSpc>
            </a:pPr>
            <a:r>
              <a:rPr lang="en-US" b="true" sz="7200" spc="-288">
                <a:solidFill>
                  <a:srgbClr val="FFDE59"/>
                </a:solidFill>
                <a:latin typeface="DM Sans Bold"/>
                <a:ea typeface="DM Sans Bold"/>
                <a:cs typeface="DM Sans Bold"/>
                <a:sym typeface="DM Sans Bold"/>
              </a:rPr>
              <a:t>GAME SHOWCASE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3212" y="5670550"/>
            <a:ext cx="244157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ANY QUESTION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33010" y="1687334"/>
            <a:ext cx="2821980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C03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THIS IS THE END OF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DAHU3CFvNWE</dc:identifier>
  <dcterms:modified xsi:type="dcterms:W3CDTF">2011-08-01T06:04:30Z</dcterms:modified>
  <cp:revision>1</cp:revision>
  <dc:title>HẠN TRỜI</dc:title>
</cp:coreProperties>
</file>